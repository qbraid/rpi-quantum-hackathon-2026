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2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D6CB"/>
                </a:solidFill>
              </a:rPr>
              <a:t>RPI QUANTUM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06070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MarketMind-Q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70078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E1"/>
                </a:solidFill>
              </a:rPr>
              <a:t>A compiler-aware benchmark for finance QML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 benchmark quantum kernels against strong classical ML, then use qBraid to test whether the quantum workload survives compilation across representations and execution environments.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960120"/>
            <a:ext cx="1920240" cy="868680"/>
          </a:xfrm>
          <a:prstGeom prst="roundRect">
            <a:avLst>
              <a:gd name="adj" fmla="val 4211"/>
            </a:avLst>
          </a:prstGeom>
          <a:solidFill>
            <a:srgbClr val="E5F5F2"/>
          </a:solidFill>
          <a:ln w="12700">
            <a:solidFill>
              <a:srgbClr val="7AD6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4536" y="110642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Finance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74536" y="1399032"/>
            <a:ext cx="1664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11 sector ETFs vs SPY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394192" y="1389888"/>
            <a:ext cx="749808" cy="0"/>
          </a:xfrm>
          <a:prstGeom prst="line">
            <a:avLst/>
          </a:prstGeom>
          <a:noFill/>
          <a:ln w="25400">
            <a:solidFill>
              <a:srgbClr val="7AD6C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89720" y="96012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FFF3CF"/>
          </a:solidFill>
          <a:ln w="12700">
            <a:solidFill>
              <a:srgbClr val="E5C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17736" y="110642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CML vs QML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17736" y="1399032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walk-forward benchmark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06640" y="2148840"/>
            <a:ext cx="777240" cy="685800"/>
          </a:xfrm>
          <a:prstGeom prst="line">
            <a:avLst/>
          </a:prstGeom>
          <a:noFill/>
          <a:ln w="25400">
            <a:solidFill>
              <a:srgbClr val="C02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2615184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F8E5EF"/>
          </a:solidFill>
          <a:ln w="12700">
            <a:solidFill>
              <a:srgbClr val="EC9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76148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qBraid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3054096"/>
            <a:ext cx="1801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compile + preserve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46520" y="41605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60520"/>
            <a:ext cx="54864" cy="82296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30682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Rows evaluated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6583680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480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5008" y="41605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4160520"/>
            <a:ext cx="54864" cy="822960"/>
          </a:xfrm>
          <a:prstGeom prst="rect">
            <a:avLst/>
          </a:prstGeom>
          <a:solidFill>
            <a:srgbClr val="1F8F48"/>
          </a:solidFill>
          <a:ln w="12700">
            <a:solidFill>
              <a:srgbClr val="1F8F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430682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qBraid success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8202168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64/64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83496" y="416052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83496" y="4160520"/>
            <a:ext cx="54864" cy="822960"/>
          </a:xfrm>
          <a:prstGeom prst="rect">
            <a:avLst/>
          </a:prstGeom>
          <a:solidFill>
            <a:srgbClr val="C58A05"/>
          </a:solidFill>
          <a:ln w="12700">
            <a:solidFill>
              <a:srgbClr val="C58A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430682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Best CML ROC-AUC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9820656" y="45537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0.665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61722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BF"/>
                </a:solidFill>
              </a:rPr>
              <a:t>Research demo only.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Finance is a hostile benchmark for QML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The labels are short-horizon, low-signal, and regime-dependent. A useful quantum claim needs strong baselines and time-respecting evaluation.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7033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295144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Noisy labels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5877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Five trading days is enough for market noise to dominate simple signals.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3108960"/>
            <a:ext cx="3703320" cy="713232"/>
          </a:xfrm>
          <a:prstGeom prst="roundRect">
            <a:avLst>
              <a:gd name="adj" fmla="val 5128"/>
            </a:avLst>
          </a:prstGeom>
          <a:solidFill>
            <a:srgbClr val="FFF3C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3255264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Low data regime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" y="354787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Quantum methods are most plausible where classical models have fewer samples.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37033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215384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Regime drift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450799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High-volatility and low-volatility slices behave differently.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23560" y="1828800"/>
            <a:ext cx="256032" cy="3291840"/>
          </a:xfrm>
          <a:prstGeom prst="rect">
            <a:avLst/>
          </a:prstGeom>
          <a:solidFill>
            <a:srgbClr val="D9DFDC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4133088"/>
            <a:ext cx="256032" cy="310896"/>
          </a:xfrm>
          <a:prstGeom prst="rect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40782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2"/>
                </a:solidFill>
              </a:rPr>
              <a:t>Signal is small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16752" y="437083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25F"/>
                </a:solidFill>
              </a:rPr>
              <a:t>The benchmark asks whether a quantum feature map can recover useful structure without future leakage.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1865376"/>
            <a:ext cx="1389888" cy="329184"/>
          </a:xfrm>
          <a:prstGeom prst="roundRect">
            <a:avLst>
              <a:gd name="adj" fmla="val 11111"/>
            </a:avLst>
          </a:prstGeom>
          <a:solidFill>
            <a:srgbClr val="E5F5F2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93852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No random split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1865376"/>
            <a:ext cx="1664208" cy="329184"/>
          </a:xfrm>
          <a:prstGeom prst="roundRect">
            <a:avLst>
              <a:gd name="adj" fmla="val 11111"/>
            </a:avLst>
          </a:prstGeom>
          <a:solidFill>
            <a:srgbClr val="E6F4EA"/>
          </a:solidFill>
          <a:ln w="12700">
            <a:solidFill>
              <a:srgbClr val="1F8F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93852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F48"/>
                </a:solidFill>
              </a:rPr>
              <a:t>No live API dependency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DATASET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One frozen market dataset, one target, one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Sector ETF rows from 2018-01-01 through 2026-03-31. SPY is only the market benchmark.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16736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XLC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75104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33472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XLF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50208" y="2084832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21579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XLK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2514600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5877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16736" y="2514600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8176" y="25877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XLRE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75104" y="2514600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25877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XLU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33472" y="2514600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25877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XLV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2514600"/>
            <a:ext cx="493776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877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22"/>
                </a:solidFill>
              </a:rPr>
              <a:t>XLY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3246120"/>
            <a:ext cx="44348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392424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Target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368503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1 if sector ETF beats SPY by more than 0.25% over the next five trading days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" y="4370832"/>
            <a:ext cx="44348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517136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Features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" y="4809744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Past-only returns, volatility, volume ratios, relative strength, SPY volatility, weekday/month seasonality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3246120"/>
            <a:ext cx="5394960" cy="0"/>
          </a:xfrm>
          <a:prstGeom prst="line">
            <a:avLst/>
          </a:prstGeom>
          <a:noFill/>
          <a:ln w="25400">
            <a:solidFill>
              <a:srgbClr val="2023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3191256"/>
            <a:ext cx="91440" cy="91440"/>
          </a:xfrm>
          <a:prstGeom prst="ellipse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2018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00216" y="3191256"/>
            <a:ext cx="91440" cy="91440"/>
          </a:xfrm>
          <a:prstGeom prst="ellipse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2019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76872" y="3191256"/>
            <a:ext cx="91440" cy="91440"/>
          </a:xfrm>
          <a:prstGeom prst="ellipse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53528" y="3191256"/>
            <a:ext cx="91440" cy="91440"/>
          </a:xfrm>
          <a:prstGeom prst="ellipse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330184" y="3191256"/>
            <a:ext cx="91440" cy="91440"/>
          </a:xfrm>
          <a:prstGeom prst="ellipse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1312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006840" y="3191256"/>
            <a:ext cx="91440" cy="91440"/>
          </a:xfrm>
          <a:prstGeom prst="ellipse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87968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2023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83496" y="3191256"/>
            <a:ext cx="91440" cy="91440"/>
          </a:xfrm>
          <a:prstGeom prst="ellipse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64624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360152" y="3191256"/>
            <a:ext cx="91440" cy="91440"/>
          </a:xfrm>
          <a:prstGeom prst="ellipse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0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2025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036808" y="3191256"/>
            <a:ext cx="91440" cy="91440"/>
          </a:xfrm>
          <a:prstGeom prst="ellipse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17936" y="34381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2026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675120" y="25146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2"/>
                </a:solidFill>
              </a:rPr>
              <a:t>Walk-forward cutoffs start in 2023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00800" y="4133088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4133088"/>
            <a:ext cx="54864" cy="82296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42793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Rows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6537960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22,390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28432" y="4133088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28432" y="4133088"/>
            <a:ext cx="54864" cy="822960"/>
          </a:xfrm>
          <a:prstGeom prst="rect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65592" y="42793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Cutoffs</a:t>
            </a:r>
            <a:endParaRPr lang="en-US" sz="770" dirty="0"/>
          </a:p>
        </p:txBody>
      </p:sp>
      <p:sp>
        <p:nvSpPr>
          <p:cNvPr id="60" name="Text 58"/>
          <p:cNvSpPr/>
          <p:nvPr/>
        </p:nvSpPr>
        <p:spPr>
          <a:xfrm>
            <a:off x="8165592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12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656064" y="4133088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56064" y="4133088"/>
            <a:ext cx="54864" cy="822960"/>
          </a:xfrm>
          <a:prstGeom prst="rect">
            <a:avLst/>
          </a:prstGeom>
          <a:solidFill>
            <a:srgbClr val="C58A05"/>
          </a:solidFill>
          <a:ln w="12700">
            <a:solidFill>
              <a:srgbClr val="C58A0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93224" y="42793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Train sizes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9793224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40-320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FAIRNESS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Classical baselines are deliberately strong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If QML looks useful here, it is not because the classical panel was weak.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06324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66544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359152"/>
            <a:ext cx="28072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linear signal check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2706624"/>
            <a:ext cx="3063240" cy="585216"/>
          </a:xfrm>
          <a:prstGeom prst="roundRect">
            <a:avLst>
              <a:gd name="adj" fmla="val 6250"/>
            </a:avLst>
          </a:prstGeom>
          <a:solidFill>
            <a:srgbClr val="FFF3C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85292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RBF SVM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3145536"/>
            <a:ext cx="28072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nonlinear classical kernel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306324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63931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3931920"/>
            <a:ext cx="28072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bagged tree baseline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" y="4279392"/>
            <a:ext cx="306324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42569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XGBoost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4718304"/>
            <a:ext cx="28072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boosted tree baseline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2"/>
                </a:solidFill>
              </a:rPr>
              <a:t>Best observed ROC-AUC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322"/>
                </a:solidFill>
              </a:rPr>
              <a:t>RBF SVM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295144"/>
            <a:ext cx="2834640" cy="274320"/>
          </a:xfrm>
          <a:prstGeom prst="rect">
            <a:avLst/>
          </a:prstGeom>
          <a:solidFill>
            <a:srgbClr val="EDF2F0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295144"/>
            <a:ext cx="1885989" cy="274320"/>
          </a:xfrm>
          <a:prstGeom prst="rect">
            <a:avLst/>
          </a:prstGeom>
          <a:solidFill>
            <a:srgbClr val="C58A05"/>
          </a:solidFill>
          <a:ln w="12700">
            <a:solidFill>
              <a:srgbClr val="C58A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3134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322"/>
                </a:solidFill>
              </a:rPr>
              <a:t>0.665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1546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322"/>
                </a:solidFill>
              </a:rPr>
              <a:t>Quantum kernel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118104"/>
            <a:ext cx="2834640" cy="274320"/>
          </a:xfrm>
          <a:prstGeom prst="rect">
            <a:avLst/>
          </a:prstGeom>
          <a:solidFill>
            <a:srgbClr val="EDF2F0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118104"/>
            <a:ext cx="1812214" cy="27432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3136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322"/>
                </a:solidFill>
              </a:rPr>
              <a:t>0.639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4343400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E5F5F2"/>
          </a:solidFill>
          <a:ln w="12700">
            <a:solidFill>
              <a:srgbClr val="AAD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4489704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Same rows. Same splits. Same metrics.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37176" y="4782312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No random train/test split appears anywhere in the benchmark.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QUANTUM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The QML workload is a quantum-kernel SVM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The core quantum subroutine estimates kernel-entry probabilities from compute-uncompute circuits.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55448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38658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Financial row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" y="26791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past-only features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2560320"/>
            <a:ext cx="594360" cy="0"/>
          </a:xfrm>
          <a:prstGeom prst="line">
            <a:avLst/>
          </a:prstGeom>
          <a:noFill/>
          <a:ln w="25400">
            <a:solidFill>
              <a:srgbClr val="0B8F8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240280"/>
            <a:ext cx="1737360" cy="658368"/>
          </a:xfrm>
          <a:prstGeom prst="roundRect">
            <a:avLst>
              <a:gd name="adj" fmla="val 5556"/>
            </a:avLst>
          </a:prstGeom>
          <a:solidFill>
            <a:srgbClr val="E5F5F2"/>
          </a:solidFill>
          <a:ln w="12700">
            <a:solidFill>
              <a:srgbClr val="AA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23865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ZZ feature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54096" y="267919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Qiskit circuit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18304" y="2560320"/>
            <a:ext cx="603504" cy="0"/>
          </a:xfrm>
          <a:prstGeom prst="line">
            <a:avLst/>
          </a:prstGeom>
          <a:noFill/>
          <a:ln w="25400">
            <a:solidFill>
              <a:srgbClr val="0B8F8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76672" y="2240280"/>
            <a:ext cx="1737360" cy="658368"/>
          </a:xfrm>
          <a:prstGeom prst="roundRect">
            <a:avLst>
              <a:gd name="adj" fmla="val 5556"/>
            </a:avLst>
          </a:prstGeom>
          <a:solidFill>
            <a:srgbClr val="F8E5EF"/>
          </a:solidFill>
          <a:ln w="12700">
            <a:solidFill>
              <a:srgbClr val="EC9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23865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Kernel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267919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p(|00...0&gt;)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59752" y="2560320"/>
            <a:ext cx="612648" cy="0"/>
          </a:xfrm>
          <a:prstGeom prst="line">
            <a:avLst/>
          </a:prstGeom>
          <a:noFill/>
          <a:ln w="25400">
            <a:solidFill>
              <a:srgbClr val="0B8F8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24028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3CF"/>
          </a:solidFill>
          <a:ln w="12700">
            <a:solidFill>
              <a:srgbClr val="E5C4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46136" y="238658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SVM classifier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46136" y="2679192"/>
            <a:ext cx="1618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precomputed kernel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0160" y="4023360"/>
            <a:ext cx="224028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16966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Exact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462272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statevector fidelity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0" y="4023360"/>
            <a:ext cx="224028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416966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Shots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42816" y="4462272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1024-shot finite sampling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4023360"/>
            <a:ext cx="224028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416966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Noisy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77456" y="4462272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depolarizing + readout proxy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34440" y="512064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2"/>
                </a:solidFill>
              </a:rPr>
              <a:t>Manual precomputed-kernel path keeps the project robust if high-level Qiskit ML APIs shift.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BOUNDARY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QML is not a universal winner; it has slices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The important artifact is a map: where the quantum kernel is useful, competitive, or impractical.</a:t>
            </a:r>
            <a:endParaRPr lang="en-US" sz="1350" dirty="0"/>
          </a:p>
        </p:txBody>
      </p:sp>
      <p:pic>
        <p:nvPicPr>
          <p:cNvPr id="5" name="Image 0" descr="/Users/tazeemmahashin/Downloads/QuantumHackathon/finance-qml-benchmark/results/figures/qml_ed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6928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874520"/>
            <a:ext cx="4206240" cy="822960"/>
          </a:xfrm>
          <a:prstGeom prst="roundRect">
            <a:avLst>
              <a:gd name="adj" fmla="val 4444"/>
            </a:avLst>
          </a:prstGeom>
          <a:solidFill>
            <a:srgbClr val="E6F4EA"/>
          </a:solidFill>
          <a:ln w="12700">
            <a:solidFill>
              <a:srgbClr val="A6DC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65976" y="202082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Best positive slice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65976" y="231343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train=160, d=2, cutoff=2023-01-03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37960" y="29260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926080"/>
            <a:ext cx="54864" cy="822960"/>
          </a:xfrm>
          <a:prstGeom prst="rect">
            <a:avLst/>
          </a:prstGeom>
          <a:solidFill>
            <a:srgbClr val="1F8F48"/>
          </a:solidFill>
          <a:ln w="12700">
            <a:solidFill>
              <a:srgbClr val="1F8F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QML edge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67512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+0.152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83880" y="29260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2926080"/>
            <a:ext cx="54864" cy="82296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QSVM exact</a:t>
            </a:r>
            <a:endParaRPr lang="en-US" sz="770" dirty="0"/>
          </a:p>
        </p:txBody>
      </p:sp>
      <p:sp>
        <p:nvSpPr>
          <p:cNvPr id="16" name="Text 13"/>
          <p:cNvSpPr/>
          <p:nvPr/>
        </p:nvSpPr>
        <p:spPr>
          <a:xfrm>
            <a:off x="832104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0.577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829800" y="29260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29800" y="2926080"/>
            <a:ext cx="54864" cy="822960"/>
          </a:xfrm>
          <a:prstGeom prst="rect">
            <a:avLst/>
          </a:prstGeom>
          <a:solidFill>
            <a:srgbClr val="C58A05"/>
          </a:solidFill>
          <a:ln w="12700">
            <a:solidFill>
              <a:srgbClr val="C58A0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Best CML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996696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0.425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4160520"/>
            <a:ext cx="429768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322"/>
                </a:solidFill>
              </a:rPr>
              <a:t>The average map is hard on QML; the slice-level edge shows why boundary analysis is more honest than a single leaderboard.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QBRAID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The quantum workload is tested for compiler survival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qBraid is central to the second question: does the kernel-estimation circuit preserve output quality after conversion?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761488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E5F5F2"/>
          </a:solidFill>
          <a:ln w="12700">
            <a:solidFill>
              <a:srgbClr val="AA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9077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Qiskit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" y="32004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QuantumCircuit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compute-uncompute kernel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80360" y="3163824"/>
            <a:ext cx="777240" cy="-676656"/>
          </a:xfrm>
          <a:prstGeom prst="line">
            <a:avLst/>
          </a:prstGeom>
          <a:noFill/>
          <a:ln w="25400">
            <a:solidFill>
              <a:srgbClr val="C02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3163824"/>
            <a:ext cx="777240" cy="676656"/>
          </a:xfrm>
          <a:prstGeom prst="line">
            <a:avLst/>
          </a:prstGeom>
          <a:noFill/>
          <a:ln w="25400">
            <a:solidFill>
              <a:srgbClr val="C027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2029968"/>
            <a:ext cx="2697480" cy="822960"/>
          </a:xfrm>
          <a:prstGeom prst="roundRect">
            <a:avLst>
              <a:gd name="adj" fmla="val 4444"/>
            </a:avLst>
          </a:prstGeom>
          <a:solidFill>
            <a:srgbClr val="F8E5EF"/>
          </a:solidFill>
          <a:ln w="12700">
            <a:solidFill>
              <a:srgbClr val="EC9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2176272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QASM2 roundtrip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77056" y="246888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qBraid transpile to QASM2,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then back to Qiskit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3383280"/>
            <a:ext cx="2697480" cy="822960"/>
          </a:xfrm>
          <a:prstGeom prst="roundRect">
            <a:avLst>
              <a:gd name="adj" fmla="val 4444"/>
            </a:avLst>
          </a:prstGeom>
          <a:solidFill>
            <a:srgbClr val="FFF3CF"/>
          </a:solidFill>
          <a:ln w="12700">
            <a:solidFill>
              <a:srgbClr val="E5C4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352958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Cirq direct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77056" y="382219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qBraid transpile to Cirq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simulation path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37960" y="2450592"/>
            <a:ext cx="868680" cy="713232"/>
          </a:xfrm>
          <a:prstGeom prst="line">
            <a:avLst/>
          </a:prstGeom>
          <a:noFill/>
          <a:ln w="25400">
            <a:solidFill>
              <a:srgbClr val="0B8F8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7960" y="3803904"/>
            <a:ext cx="868680" cy="-640080"/>
          </a:xfrm>
          <a:prstGeom prst="line">
            <a:avLst/>
          </a:prstGeom>
          <a:noFill/>
          <a:ln w="25400">
            <a:solidFill>
              <a:srgbClr val="0B8F8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761488"/>
            <a:ext cx="21031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1816" y="29077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Output quality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71816" y="32004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source p(0) vs compiled p(0)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Hellinger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829800" y="2761488"/>
            <a:ext cx="17373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57816" y="290779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Resource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57816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depth, 2Q gates,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serialized size, runtime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0" y="5212080"/>
            <a:ext cx="1280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5212080"/>
            <a:ext cx="54864" cy="822960"/>
          </a:xfrm>
          <a:prstGeom prst="rect">
            <a:avLst/>
          </a:prstGeom>
          <a:solidFill>
            <a:srgbClr val="C02776"/>
          </a:solidFill>
          <a:ln w="12700">
            <a:solidFill>
              <a:srgbClr val="C027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535838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Strategies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1965960" y="56052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01568" y="5212080"/>
            <a:ext cx="1280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1568" y="5212080"/>
            <a:ext cx="54864" cy="82296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535838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Environments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3538728" y="56052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74336" y="5212080"/>
            <a:ext cx="1280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4336" y="5212080"/>
            <a:ext cx="54864" cy="822960"/>
          </a:xfrm>
          <a:prstGeom prst="rect">
            <a:avLst/>
          </a:prstGeom>
          <a:solidFill>
            <a:srgbClr val="C58A05"/>
          </a:solidFill>
          <a:ln w="12700">
            <a:solidFill>
              <a:srgbClr val="C58A0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11496" y="535838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Rows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5111496" y="56052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64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47104" y="5212080"/>
            <a:ext cx="1280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47104" y="5212080"/>
            <a:ext cx="54864" cy="822960"/>
          </a:xfrm>
          <a:prstGeom prst="rect">
            <a:avLst/>
          </a:prstGeom>
          <a:solidFill>
            <a:srgbClr val="1F8F48"/>
          </a:solidFill>
          <a:ln w="12700">
            <a:solidFill>
              <a:srgbClr val="1F8F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535838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Success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6684264" y="56052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64/64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COMPILER-AWARE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qBraid preserves the kernel workload, with measurable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Exact paths preserve probability; shot paths reveal the practical sampling floor.</a:t>
            </a:r>
            <a:endParaRPr lang="en-US" sz="1350" dirty="0"/>
          </a:p>
        </p:txBody>
      </p:sp>
      <p:pic>
        <p:nvPicPr>
          <p:cNvPr id="5" name="Image 0" descr="/Users/tazeemmahashin/Downloads/QuantumHackathon/finance-qml-benchmark/results/figures/qbraid_quality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5257800" cy="3611880"/>
          </a:xfrm>
          <a:prstGeom prst="rect">
            <a:avLst/>
          </a:prstGeom>
        </p:spPr>
      </p:pic>
      <p:pic>
        <p:nvPicPr>
          <p:cNvPr id="6" name="Image 1" descr="/Users/tazeemmahashin/Downloads/QuantumHackathon/finance-qml-benchmark/results/figures/qbraid_strategy_resour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27632"/>
            <a:ext cx="5349240" cy="3611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5840" y="5532120"/>
            <a:ext cx="16642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5532120"/>
            <a:ext cx="54864" cy="822960"/>
          </a:xfrm>
          <a:prstGeom prst="rect">
            <a:avLst/>
          </a:prstGeom>
          <a:solidFill>
            <a:srgbClr val="1F8F48"/>
          </a:solidFill>
          <a:ln w="12700">
            <a:solidFill>
              <a:srgbClr val="1F8F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3000" y="5678424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qiskit statevector</a:t>
            </a:r>
            <a:endParaRPr lang="en-US" sz="770" dirty="0"/>
          </a:p>
        </p:txBody>
      </p:sp>
      <p:sp>
        <p:nvSpPr>
          <p:cNvPr id="10" name="Text 6"/>
          <p:cNvSpPr/>
          <p:nvPr/>
        </p:nvSpPr>
        <p:spPr>
          <a:xfrm>
            <a:off x="1143000" y="5925312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0.0000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017520" y="5532120"/>
            <a:ext cx="16642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17520" y="5532120"/>
            <a:ext cx="54864" cy="822960"/>
          </a:xfrm>
          <a:prstGeom prst="rect">
            <a:avLst/>
          </a:prstGeom>
          <a:solidFill>
            <a:srgbClr val="0B8F89"/>
          </a:solidFill>
          <a:ln w="12700">
            <a:solidFill>
              <a:srgbClr val="0B8F8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54680" y="5678424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A625F"/>
                </a:solidFill>
              </a:rPr>
              <a:t>cirq statevector</a:t>
            </a:r>
            <a:endParaRPr lang="en-US" sz="770" dirty="0"/>
          </a:p>
        </p:txBody>
      </p:sp>
      <p:sp>
        <p:nvSpPr>
          <p:cNvPr id="14" name="Text 10"/>
          <p:cNvSpPr/>
          <p:nvPr/>
        </p:nvSpPr>
        <p:spPr>
          <a:xfrm>
            <a:off x="3154680" y="5925312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22"/>
                </a:solidFill>
              </a:rPr>
              <a:t>7.0e-8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38928" y="559612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322"/>
                </a:solidFill>
              </a:rPr>
              <a:t>The result is not just that qBraid converts circuits; it quantifies whether conversion preserves the classifier’s kernel probabilities.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F89"/>
                </a:solidFill>
              </a:rPr>
              <a:t>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322"/>
                </a:solidFill>
              </a:rPr>
              <a:t>The web app turns CSV evidence into a judge-ready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25F"/>
                </a:solidFill>
              </a:rPr>
              <a:t>The dashboard starts with the usable benchmark view and links CML vs QML to the qBraid compiler lab.</a:t>
            </a:r>
            <a:endParaRPr lang="en-US" sz="1350" dirty="0"/>
          </a:p>
        </p:txBody>
      </p:sp>
      <p:pic>
        <p:nvPicPr>
          <p:cNvPr id="5" name="Image 0" descr="/Users/tazeemmahashin/Downloads/QuantumHackathon/finance-qml-benchmark/slides/observatory-deck/assets/web-observa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64208"/>
            <a:ext cx="72237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783080"/>
            <a:ext cx="2971800" cy="694944"/>
          </a:xfrm>
          <a:prstGeom prst="roundRect">
            <a:avLst>
              <a:gd name="adj" fmla="val 5263"/>
            </a:avLst>
          </a:prstGeom>
          <a:solidFill>
            <a:srgbClr val="E5F5F2"/>
          </a:solidFill>
          <a:ln w="12700">
            <a:solidFill>
              <a:srgbClr val="AADF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57616" y="1929384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Boundary Map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57616" y="2221992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QML edge by train size and feature dimension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229600" y="2670048"/>
            <a:ext cx="297180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57616" y="281635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Model Arena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57616" y="3108960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same split, same metrics, all baselines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229600" y="3557016"/>
            <a:ext cx="2971800" cy="694944"/>
          </a:xfrm>
          <a:prstGeom prst="roundRect">
            <a:avLst>
              <a:gd name="adj" fmla="val 5263"/>
            </a:avLst>
          </a:prstGeom>
          <a:solidFill>
            <a:srgbClr val="F8E5EF"/>
          </a:solidFill>
          <a:ln w="12700">
            <a:solidFill>
              <a:srgbClr val="EC9C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7616" y="3703320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qBraid Lab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57616" y="3995928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strategy quality vs compiled-resource cost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229600" y="4443984"/>
            <a:ext cx="2971800" cy="694944"/>
          </a:xfrm>
          <a:prstGeom prst="roundRect">
            <a:avLst>
              <a:gd name="adj" fmla="val 5263"/>
            </a:avLst>
          </a:prstGeom>
          <a:solidFill>
            <a:srgbClr val="FFF3CF"/>
          </a:solidFill>
          <a:ln w="12700">
            <a:solidFill>
              <a:srgbClr val="E5C4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459028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Judge Tour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57616" y="4882896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90-second narrative path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5F"/>
                </a:solidFill>
              </a:rPr>
              <a:t>MarketMind-Q  |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2"/>
          </a:solidFill>
          <a:ln w="12700">
            <a:solidFill>
              <a:srgbClr val="2023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8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D6CB"/>
                </a:solidFill>
              </a:rPr>
              <a:t>Final claim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MarketMind-Q is a boundary map, not a hype claim.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24612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311810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CML still wins often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3410712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That is why the comparison is credible.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34840" y="2971800"/>
            <a:ext cx="3246120" cy="969264"/>
          </a:xfrm>
          <a:prstGeom prst="roundRect">
            <a:avLst>
              <a:gd name="adj" fmla="val 3774"/>
            </a:avLst>
          </a:prstGeom>
          <a:solidFill>
            <a:srgbClr val="E5F5F2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311810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QML can be competitive in slices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2856" y="3410712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Low-data, regime-sensitive contexts are the interesting frontier.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38160" y="2971800"/>
            <a:ext cx="324612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311810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2"/>
                </a:solidFill>
              </a:rPr>
              <a:t>qBraid makes portability measurable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66176" y="3410712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A625F"/>
                </a:solidFill>
              </a:rPr>
              <a:t>Compilation paths are judged by output quality and circuit cost.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513892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Best demo path: Boundary Map -&gt; Model Arena -&gt; qBraid Lab -&gt; one-sentence conclusion.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41648" y="61447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4BF"/>
                </a:solidFill>
              </a:rPr>
              <a:t>Research and education only.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RPI Quantum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MarketMind-Q Observatory</dc:title>
  <dc:subject>Classical ML vs QML finance benchmark with qBraid compiler-aware validation</dc:subject>
  <dc:creator>MarketMind-Q</dc:creator>
  <cp:lastModifiedBy>MarketMind-Q</cp:lastModifiedBy>
  <cp:revision>1</cp:revision>
  <dcterms:created xsi:type="dcterms:W3CDTF">2026-04-11T12:03:22Z</dcterms:created>
  <dcterms:modified xsi:type="dcterms:W3CDTF">2026-04-11T12:03:22Z</dcterms:modified>
</cp:coreProperties>
</file>