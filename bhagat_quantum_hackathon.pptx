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777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52B788">
              <a:alpha val="60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Quantum Wildfire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Resilience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EE2E6"/>
                </a:solidFill>
              </a:rPr>
              <a:t>QAOA-Based Toyon Placement on ibm_rensselaer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286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E2E6"/>
                </a:solidFill>
              </a:rPr>
              <a:t>Ram Bhagat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DEE2E6"/>
                </a:solidFill>
              </a:rPr>
              <a:t>RPI Quantum Hackathon 2026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EE2E6"/>
                </a:solidFill>
              </a:rPr>
              <a:t>qBraid Challenge  |  ibm_rensselaer Eagle (127 qubits)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Problem — Wildfire Spread on a Hillside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RPI Quantum Hackathon 2026  |  ibm_rensselaer (127-qubit Eagle)  |  qBraid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</a:rPr>
              <a:t>Realistic Hillside Grid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96E"/>
                </a:solidFill>
              </a:rPr>
              <a:t>65% Dry Brush  </a:t>
            </a:r>
            <a:r>
              <a:rPr lang="en-US" sz="1100" b="1" dirty="0">
                <a:solidFill>
                  <a:srgbClr val="6C757D"/>
                </a:solidFill>
              </a:rPr>
              <a:t>35% Empty</a:t>
            </a:r>
            <a:endParaRPr lang="en-US" sz="1100" dirty="0"/>
          </a:p>
        </p:txBody>
      </p:sp>
      <p:pic>
        <p:nvPicPr>
          <p:cNvPr id="8" name="Image 0" descr="/home/claude/decomposed_a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63040"/>
            <a:ext cx="4754880" cy="3017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</a:rPr>
              <a:t>Optimization Goal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03520" y="1188720"/>
            <a:ext cx="3474720" cy="8686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49240" y="1188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Σ(i,j)∈E (1−xᵢ)(1−xⱼ) + λ(Σxᵢ − K)²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2194560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303520" y="2194560"/>
            <a:ext cx="6400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4068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</a:rPr>
              <a:t>Grid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40680" y="254203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10×10 cells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65 Dry Brush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40880" y="2194560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040880" y="2194560"/>
            <a:ext cx="64008" cy="6858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178040" y="22585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</a:rPr>
              <a:t>Budget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78040" y="2542032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K = 10 Toyons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10% coverage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03520" y="2971800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303520" y="2971800"/>
            <a:ext cx="64008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40680" y="3035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</a:rPr>
              <a:t>Max spread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40680" y="331927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107 fire paths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no Toyons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040880" y="2971800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040880" y="2971800"/>
            <a:ext cx="6400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178040" y="3035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</a:rPr>
              <a:t>Qubits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78040" y="3319272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1 per cell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100 total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0352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xᵢ = 1 if Toyon placed at cell i.  Fire spreads only between adjacent Dry Brush cells.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Quantum Formulation — QUBO to Ising to QAOA Circuit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RPI Quantum Hackathon 2026  |  ibm_rensselaer (127-qubit Eagle)  |  qBraid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11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01168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777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QUBO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Minimize fire edges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cardinality penalty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= 200 (hard 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737360"/>
            <a:ext cx="182880" cy="36576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777240"/>
            <a:ext cx="2011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68880" y="777240"/>
            <a:ext cx="2011680" cy="502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777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777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Ising Mapping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13716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xᵢ = (1−zᵢ)/2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→ ZᵢZⱼ interaction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RZ correction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737360"/>
            <a:ext cx="182880" cy="36576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777240"/>
            <a:ext cx="2011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777240"/>
            <a:ext cx="201168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777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20640" y="777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QAOA Circuit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3716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layer → superposition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RZZ cost layer per edge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mixer layer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1737360"/>
            <a:ext cx="182880" cy="36576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0" y="777240"/>
            <a:ext cx="2011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0" y="777240"/>
            <a:ext cx="2011680" cy="5029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03720" y="777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0" y="777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Hardware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13716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Eagle ISA: ECR/RZ/SX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COBYLA optimization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ibm_rensselaer p=1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017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</a:rPr>
              <a:t>Circuit structure (p=1, 4×4 realistic slice  |  22 fire edges → 22 RZZ gates)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429000"/>
            <a:ext cx="91440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4290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H⊗ⁿ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371600" y="3977640"/>
            <a:ext cx="228600" cy="36576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600200" y="3429000"/>
            <a:ext cx="1280160" cy="11887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600200" y="342900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RZZ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×22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880360" y="3977640"/>
            <a:ext cx="228600" cy="36576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08960" y="3429000"/>
            <a:ext cx="1097280" cy="11887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08960" y="342900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RZ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×16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206240" y="3977640"/>
            <a:ext cx="228600" cy="36576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434840" y="3429000"/>
            <a:ext cx="1097280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34840" y="342900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×16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532120" y="3977640"/>
            <a:ext cx="228600" cy="36576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60720" y="3429000"/>
            <a:ext cx="1371600" cy="11887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60720" y="34290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Measure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45236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↑ Repeat p times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371600" y="3410712"/>
            <a:ext cx="3520440" cy="36576"/>
          </a:xfrm>
          <a:prstGeom prst="rect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371600" y="3291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757D"/>
                </a:solidFill>
              </a:rPr>
              <a:t>Cost layer (repeat per QAOA layer)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NISQ Problem — Why We Decompose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RPI Quantum Hackathon 2026  |  ibm_rensselaer (127-qubit Eagle)  |  qBraid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</a:rPr>
              <a:t>Full 100-qubit circuit is intractable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4114800" cy="13898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10×10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7× too deep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4×4 subgrid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~1.5× too deep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5×5 subgrid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~80–162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within T₂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1188720"/>
            <a:ext cx="411480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Circuit       Depth       vs T₂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Eagle T₂ ≈ 100–200 μs  |  ECR gate ≈ 500 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Depth × 500ns must stay &lt; T₂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520440"/>
            <a:ext cx="41148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35204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</a:rPr>
              <a:t>Empirical: TVD = 0.91 at depth ~250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</a:rPr>
              <a:t>&lt; 0.3% of shots are feasible (K=2)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</a:rPr>
              <a:t>4 × 5×5 Subgrid Decomposition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46320" y="1188720"/>
            <a:ext cx="1920240" cy="1463040"/>
          </a:xfrm>
          <a:prstGeom prst="rect">
            <a:avLst/>
          </a:prstGeom>
          <a:solidFill>
            <a:srgbClr val="2D6A4F">
              <a:alpha val="25000"/>
            </a:srgbClr>
          </a:solidFill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46320" y="11887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6A4F">
                    <a:alpha val="60000"/>
                  </a:srgbClr>
                </a:solidFill>
              </a:rPr>
              <a:t>A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6903720" y="1188720"/>
            <a:ext cx="1920240" cy="1463040"/>
          </a:xfrm>
          <a:prstGeom prst="rect">
            <a:avLst/>
          </a:prstGeom>
          <a:solidFill>
            <a:srgbClr val="52B788">
              <a:alpha val="25000"/>
            </a:srgbClr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03720" y="11887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2B788">
                    <a:alpha val="60000"/>
                  </a:srgbClr>
                </a:solidFill>
              </a:rPr>
              <a:t>B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4846320" y="2788920"/>
            <a:ext cx="1920240" cy="1463040"/>
          </a:xfrm>
          <a:prstGeom prst="rect">
            <a:avLst/>
          </a:prstGeom>
          <a:solidFill>
            <a:srgbClr val="52B788">
              <a:alpha val="25000"/>
            </a:srgbClr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46320" y="27889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2B788">
                    <a:alpha val="60000"/>
                  </a:srgbClr>
                </a:solidFill>
              </a:rPr>
              <a:t>C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>
            <a:off x="6903720" y="2788920"/>
            <a:ext cx="1920240" cy="1463040"/>
          </a:xfrm>
          <a:prstGeom prst="rect">
            <a:avLst/>
          </a:prstGeom>
          <a:solidFill>
            <a:srgbClr val="2D6A4F">
              <a:alpha val="25000"/>
            </a:srgbClr>
          </a:solidFill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903720" y="27889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6A4F">
                    <a:alpha val="60000"/>
                  </a:srgbClr>
                </a:solidFill>
              </a:rPr>
              <a:t>D</a:t>
            </a:r>
            <a:endParaRPr lang="en-US" sz="3600" dirty="0"/>
          </a:p>
        </p:txBody>
      </p:sp>
      <p:sp>
        <p:nvSpPr>
          <p:cNvPr id="22" name="Shape 19"/>
          <p:cNvSpPr/>
          <p:nvPr/>
        </p:nvSpPr>
        <p:spPr>
          <a:xfrm>
            <a:off x="5852160" y="1188720"/>
            <a:ext cx="0" cy="306324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846320" y="2651760"/>
            <a:ext cx="39776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4632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Boundary penalty α=0.5 nudges Toyons toward subgrid edges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Simulation Results — Realistic Grid (65 Dry Brush, 35 Empty)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RPI Quantum Hackathon 2026  |  ibm_rensselaer (127-qubit Eagle)  |  qBraid</a:t>
            </a:r>
            <a:endParaRPr lang="en-US" sz="800" dirty="0"/>
          </a:p>
        </p:txBody>
      </p:sp>
      <p:pic>
        <p:nvPicPr>
          <p:cNvPr id="6" name="Image 0" descr="/home/claude/decomposed_a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2440" y="848868"/>
            <a:ext cx="5090160" cy="35631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777240"/>
            <a:ext cx="27432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35040" y="832104"/>
            <a:ext cx="2743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67/107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035040" y="1400861"/>
            <a:ext cx="27432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fire paths blocked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1920240"/>
            <a:ext cx="128016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35040" y="197510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35040" y="2487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Toyons placed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589520" y="1920240"/>
            <a:ext cx="1188720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589520" y="19751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37%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589520" y="2487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paths severed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297180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80760" y="3017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QAOA sim = Greedy
</a:t>
            </a:r>
            <a:r>
              <a:rPr lang="en-US" sz="1000" dirty="0">
                <a:solidFill>
                  <a:srgbClr val="212529"/>
                </a:solidFill>
              </a:rPr>
              <a:t>Both achieve 67/107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p=1 sufficient — deeper circuits add no benefit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Aer MPS simulation  |  4 × 5×5 subgrids  |  proportional K budget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Hardware Results — ibm_rensselaer (127-qubit Eagle)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RPI Quantum Hackathon 2026  |  ibm_rensselaer (127-qubit Eagle)  |  qBraid</a:t>
            </a:r>
            <a:endParaRPr lang="en-US" sz="800" dirty="0"/>
          </a:p>
        </p:txBody>
      </p:sp>
      <p:pic>
        <p:nvPicPr>
          <p:cNvPr id="6" name="Image 0" descr="/home/claude/decomposed_h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490" y="850392"/>
            <a:ext cx="5199017" cy="3639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777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529"/>
                </a:solidFill>
              </a:rPr>
              <a:t>Circuit Depth vs Noise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115568"/>
          <a:ext cx="2880360" cy="15544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19/3326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matches sim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37/3494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close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2/4094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degraded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0/4096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fallback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1115568"/>
            <a:ext cx="2880360" cy="31089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89320" y="11155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Sub         Depth           Feasible                Result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943600" y="3108960"/>
            <a:ext cx="1325880" cy="10058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943600" y="3163824"/>
            <a:ext cx="13258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72/107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5943600" y="3732581"/>
            <a:ext cx="13258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hardware result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406640" y="3108960"/>
            <a:ext cx="141732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406640" y="3163824"/>
            <a:ext cx="14173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+5 paths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406640" y="3732581"/>
            <a:ext cx="14173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vs simulation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94360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Gap fully explained by subgrid C (depth 381) falling back to greedy.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qBraid Compiler-Aware Benchmarking — Two Compilation Strategies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RPI Quantum Hackathon 2026  |  ibm_rensselaer (127-qubit Eagle)  |  qBraid</a:t>
            </a:r>
            <a:endParaRPr lang="en-US" sz="800" dirty="0"/>
          </a:p>
        </p:txBody>
      </p:sp>
      <p:pic>
        <p:nvPicPr>
          <p:cNvPr id="6" name="Image 0" descr="/home/claude/qbraid_benchm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9962" y="823855"/>
            <a:ext cx="7124076" cy="34957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</a:rPr>
              <a:t>Strategy 1: qbraid.transpile() + opt=1  |  Strategy 2: qbraid.transpile() + opt=3  |  Both achieve ratio=1.000 on Aer, 0.933 on hardware  |  21.2% depth reduction does NOT improve solution quality at depth ~200–255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Noise Analysis — TVD and Hellinger Distance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RPI Quantum Hackathon 2026  |  ibm_rensselaer (127-qubit Eagle)  |  qBraid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74320" y="3731622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3731622"/>
            <a:ext cx="64008" cy="7315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379563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</a:rPr>
              <a:t>S1 lower TVD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407909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0.9146 vs 0.9385 — S1 distribution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closer to ideal despite deeper circuit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08960" y="3731622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08960" y="3731622"/>
            <a:ext cx="64008" cy="7315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46120" y="379563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</a:rPr>
              <a:t>Same solution quality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46120" y="407909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Both ratio=0.933 — TVD does not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predict optimization outcome here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3731622"/>
            <a:ext cx="2926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43600" y="3731622"/>
            <a:ext cx="64008" cy="7315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80760" y="379563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529"/>
                </a:solidFill>
              </a:rPr>
              <a:t>Severe noise regime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407909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TVD &gt; 0.90 means ~10% distribution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overlap — signal survives anyway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0C54E9-6B6C-2041-6C92-5AA182E70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1842"/>
            <a:ext cx="9155850" cy="22809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QAOA Layer Depth — p=1,2,3 on 4×4 Realistic Grid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RPI Quantum Hackathon 2026  |  ibm_rensselaer (127-qubit Eagle)  |  qBraid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5611" y="2098766"/>
            <a:ext cx="175477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</a:rPr>
              <a:t>All p values achieve approximation ratio = 1.000 on simulation  |  p=1 is most resource-efficient  |  Runtime scales linearly with layers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46DB4F-2E6C-0C2A-BACF-03F053B48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88" y="689066"/>
            <a:ext cx="5695235" cy="42029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Complete Results Summary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RPI Quantum Hackathon 2026  |  ibm_rensselaer (127-qubit Eagle)  |  qBraid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413529"/>
              </p:ext>
            </p:extLst>
          </p:nvPr>
        </p:nvGraphicFramePr>
        <p:xfrm>
          <a:off x="274320" y="777240"/>
          <a:ext cx="8595360" cy="38679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spread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Toyons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 / 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paths 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(marginal gain)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/ 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classical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10×10 Aer 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QAOA decomposed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/ 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greedy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10×10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ibm_rensselaer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/ 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from noise in subgrid C (depth 381)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4×4 layer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QAOA p=1,2,3 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/ 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ratio=1.000 all 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4×4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ibm_rensselaer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/ 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ratio=0.933, 11/4096 feasible shots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qBraid 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opt=1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/ 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TVD=0.9146, ratio=0.933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qBraid 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opt=3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/ 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TVD=0.9385, ratio=0.933 — tie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777240"/>
            <a:ext cx="8595360" cy="4297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777240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Experiment                               Method                                                          Fire spread                         Notes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RPI Quantum Hackathon 2026  |  ibm_rensselaer (127-qubit Eagle)  |  qBraid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Learned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60120" y="1005840"/>
            <a:ext cx="7818120" cy="1051560"/>
          </a:xfrm>
          <a:prstGeom prst="rect">
            <a:avLst/>
          </a:prstGeom>
          <a:solidFill>
            <a:srgbClr val="2D6A4F">
              <a:alpha val="20000"/>
            </a:srgbClr>
          </a:solidFill>
          <a:ln w="63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06984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</a:rPr>
              <a:t>Decomposition beats compilation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353312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EE2E6"/>
                </a:solidFill>
              </a:rPr>
              <a:t>Subgrid decomposition (depth 51–162) produced meaningful quantum signal. Compilation optimization (21.2% depth reduction) did not improve solution quality at depth ~200–255. Architectural changes matter more than compiler tuning on NISQ.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02920" cy="10515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60120" y="2240280"/>
            <a:ext cx="7818120" cy="1051560"/>
          </a:xfrm>
          <a:prstGeom prst="rect">
            <a:avLst/>
          </a:prstGeom>
          <a:solidFill>
            <a:srgbClr val="2D6A4F">
              <a:alpha val="20000"/>
            </a:srgbClr>
          </a:solidFill>
          <a:ln w="635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230428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</a:rPr>
              <a:t>Noise resilience is real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587752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EE2E6"/>
                </a:solidFill>
              </a:rPr>
              <a:t>TVD &gt; 0.90 across all hardware runs — yet QAOA still extracted near-optimal solutions. In subgrid B (depth 51), only 19 of 3326 shots were feasible, yet the correct solution was found. The optimization signal survives severe noise.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502920" cy="10515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474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60120" y="3474720"/>
            <a:ext cx="7818120" cy="1051560"/>
          </a:xfrm>
          <a:prstGeom prst="rect">
            <a:avLst/>
          </a:prstGeom>
          <a:solidFill>
            <a:srgbClr val="2D6A4F">
              <a:alpha val="20000"/>
            </a:srgbClr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353872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Realistic grids matter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822192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EE2E6"/>
                </a:solidFill>
              </a:rPr>
              <a:t>Uniform grids produce trivial checkerboard solutions. The realistic grid (65% Dry Brush, 35% Empty) creates genuine optimization structure where QAOA's superposition over placements provides real value over greedy heuristics.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RPI Quantum Hackathon 2026  |  ibm_rensselaer (127-qubit Eagle)  |  qBraid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737360"/>
          </a:xfrm>
          <a:prstGeom prst="rect">
            <a:avLst/>
          </a:prstGeom>
          <a:solidFill>
            <a:srgbClr val="2D6A4F">
              <a:alpha val="20000"/>
            </a:srgbClr>
          </a:solidFill>
          <a:ln w="1016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64008" cy="1737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</a:rPr>
              <a:t>Hexagonal / 8-connected fire spread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EE2E6"/>
                </a:solidFill>
              </a:rPr>
              <a:t>Replace 4-connectivity (180 edges) with 8-connectivity (~340 edges) for physically accurate diagonal fire spread. Changes optimal Toyon placement significantly.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4114800" cy="1737360"/>
          </a:xfrm>
          <a:prstGeom prst="rect">
            <a:avLst/>
          </a:prstGeom>
          <a:solidFill>
            <a:srgbClr val="2D6A4F">
              <a:alpha val="20000"/>
            </a:srgbClr>
          </a:solidFill>
          <a:ln w="1016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64008" cy="1737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</a:rPr>
              <a:t>Hierarchical hex decomposition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EE2E6"/>
                </a:solidFill>
              </a:rPr>
              <a:t>10×10 → 4×5×5 → 16×3×3 = 20 subgrids at circuit depth ~30–40. Two-level boundary penalties. Predicts noise-free hardware at this scale.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4114800" cy="1737360"/>
          </a:xfrm>
          <a:prstGeom prst="rect">
            <a:avLst/>
          </a:prstGeom>
          <a:solidFill>
            <a:srgbClr val="2D6A4F">
              <a:alpha val="20000"/>
            </a:srgbClr>
          </a:solidFill>
          <a:ln w="1016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914400"/>
            <a:ext cx="64008" cy="17373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00584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2828"/>
                </a:solidFill>
              </a:rPr>
              <a:t>Betweenness centrality warm start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353312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EE2E6"/>
                </a:solidFill>
              </a:rPr>
              <a:t>Hough-inspired: compute betweenness centrality of the fire graph (published as QUBO on IBM/D-Wave). Use as QAOA warm start to bias toward high-leverage cells.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4114800" cy="1737360"/>
          </a:xfrm>
          <a:prstGeom prst="rect">
            <a:avLst/>
          </a:prstGeom>
          <a:solidFill>
            <a:srgbClr val="2D6A4F">
              <a:alpha val="20000"/>
            </a:srgbClr>
          </a:solidFill>
          <a:ln w="1016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2834640"/>
            <a:ext cx="64008" cy="17373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2828"/>
                </a:solidFill>
              </a:rPr>
              <a:t>Error mitigation + dynamical decoupling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273552"/>
            <a:ext cx="3913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EE2E6"/>
                </a:solidFill>
              </a:rPr>
              <a:t>TVD &gt; 0.90 is the limiting factor. DD sequences on idle qubits and M3 readout mitigation could reduce effective circuit noise, enabling tractable 10×10 hardware runs.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1165</Words>
  <Application>Microsoft Macintosh PowerPoint</Application>
  <PresentationFormat>On-screen Show (16:9)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Wildfire Resilience</dc:title>
  <dc:subject>PptxGenJS Presentation</dc:subject>
  <dc:creator>RPI Quantum Hackathon 2026</dc:creator>
  <cp:lastModifiedBy>Ram Bhagat</cp:lastModifiedBy>
  <cp:revision>2</cp:revision>
  <dcterms:created xsi:type="dcterms:W3CDTF">2026-04-11T13:35:01Z</dcterms:created>
  <dcterms:modified xsi:type="dcterms:W3CDTF">2026-04-11T14:50:22Z</dcterms:modified>
</cp:coreProperties>
</file>